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40"/>
    <p:restoredTop sz="94579"/>
  </p:normalViewPr>
  <p:slideViewPr>
    <p:cSldViewPr snapToGrid="0">
      <p:cViewPr varScale="1">
        <p:scale>
          <a:sx n="130" d="100"/>
          <a:sy n="130" d="100"/>
        </p:scale>
        <p:origin x="2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9930-A43F-DA46-D350-74CBE24AD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61E90-4A1B-127A-9245-0B8A6E435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590E8-6031-60FD-3457-0D5EF53F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CA9C5-6DD1-DA03-A117-702D1C4D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71D43-A08B-92F5-B3E7-FCA53194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3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DFF5-F319-18B5-985D-F9DEB931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893C9-09CD-3203-CADC-3A8E9EC02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81A88-4CC4-AB6E-6B87-4764FCF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EEAA2-F0B2-CCAA-336B-1A13F2F08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D9EEA-9593-3C96-44F7-5500C17F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EF1E-5C9C-6895-71E9-AADF33FC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02CAE-C6BE-2F7A-D7ED-DB9EE8DFB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EE44D-7DFC-46F0-CC7D-39546D4B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F74F-876C-0291-5E06-05E8D670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369B7-4CB1-4E35-F98F-88DE8095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2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3A63-5447-7CD2-8445-1A97F598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2CB3-6484-89DD-D9BE-44C82B530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9BA4A-16FC-7045-0A5D-18FA46A35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62DF0-5BC3-2EE0-D789-38976A5A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3EF1F-BBDA-489E-5F17-CD1F814D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ECDCB-0072-9EFC-2853-AF08780D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8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A9DBC-A51A-B48E-8EF5-814F5125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52F29-2268-E243-ADC9-65B4C0EE0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74CC2-049A-3A04-A14D-0685796DC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850CB-F926-EAB1-8806-AD49D5FB3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DA7C9-C4D4-8599-57D8-777D3DDA5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FDA6C-D78A-6273-AF9A-775A30DF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2E062-7EAA-FDB9-B69E-816AB232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A1F425-9BA5-5751-881A-34687CF0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5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BE6F-D663-8686-A3D5-5179F898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6A8C8-444F-A791-F005-4A4F8D4D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B4D593-E9D1-5A5E-D4F9-87AAA11F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C87F0-F680-F6A2-A05E-47973519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4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F8D0E6-C5CE-EE00-6D76-D95D92363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2C6FD-5DF8-00C7-B7AB-3B99DC0CC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1D159-182C-C08E-7B62-E045C150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82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7F5C-0A3F-B03C-DBF3-14818DEE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2D5F0-1998-5220-998D-13589367D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4772B-56F8-9EDD-AD1F-4D9C84D32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2B360-DE9E-4DA6-F964-22ABA789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8F902-669D-A393-67C8-B3D95ECD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B3FBE-4B09-8210-FAC2-3B72A666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37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98E4-5654-F725-5528-710C2691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A1706-4024-AD7A-5FB5-E374DAFAC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C9422-19F9-9153-5355-8FF50CF87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5B930-C5EB-AE2D-4995-7A070808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4FEC8-517D-D4E5-17A0-E1E2FF4C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C6A00-8DF8-AF2A-2AD9-880D2F79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1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AFF3-50CA-AE2F-F06D-A2A9E4F5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20FA9-DB94-4551-65D6-C3F07D115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EE265-D0C9-077E-8249-E4D537D5E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F551E-A6ED-13E2-F149-3DF05011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47C53-DC54-0A9E-6655-5DD1F858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58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E55C1-94EB-1F90-2042-795401CAD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FD714-2700-C823-1EF8-68C1B40C8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D43C-ED46-C617-9BFD-82810A75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65073-FF7E-7355-8AEA-91ABDE75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8CA9E-7413-C9BF-69A7-D2C05358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4D6742-7FAF-94B1-0D24-F8E841B5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32C2D-5DDC-5BEB-4458-FB35B76C8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652BE-9FE0-9AAC-78F5-5BC44EBD6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5515F-C2A3-E14F-B32F-6FC96613FA8C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5C1CE-D75C-619E-9BA4-731AC2AE5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3B518-D747-A320-2C62-0741E4B28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5CE94-2B75-A844-BA47-D1F57898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1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D5DF-ED55-B1FF-F3ED-36A7E38A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89B879-32A0-E4BD-D3EE-759BA0A10DC8}"/>
              </a:ext>
            </a:extLst>
          </p:cNvPr>
          <p:cNvSpPr txBox="1"/>
          <p:nvPr/>
        </p:nvSpPr>
        <p:spPr>
          <a:xfrm>
            <a:off x="3681114" y="1989455"/>
            <a:ext cx="4829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Roboto Mono Medium" pitchFamily="49" charset="0"/>
                <a:ea typeface="Roboto Mono Medium" pitchFamily="49" charset="0"/>
              </a:rPr>
              <a:t>Data Challenge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FF012-E32F-D653-1305-AADA3E7D3DA3}"/>
              </a:ext>
            </a:extLst>
          </p:cNvPr>
          <p:cNvSpPr txBox="1"/>
          <p:nvPr/>
        </p:nvSpPr>
        <p:spPr>
          <a:xfrm>
            <a:off x="5450576" y="2574230"/>
            <a:ext cx="1294353" cy="28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Lukas &amp; Lara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841D4-F365-3CF5-1066-DD9CE30D2E29}"/>
              </a:ext>
            </a:extLst>
          </p:cNvPr>
          <p:cNvSpPr txBox="1"/>
          <p:nvPr/>
        </p:nvSpPr>
        <p:spPr>
          <a:xfrm>
            <a:off x="3010595" y="3089963"/>
            <a:ext cx="61708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boto Mono Medium" pitchFamily="49" charset="0"/>
                <a:ea typeface="Roboto Mono Medium" pitchFamily="49" charset="0"/>
              </a:rPr>
              <a:t>Leveraging generative AI for useful latent space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380842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5F85-83E0-3A80-D988-ED6256B5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D89DA-2893-B93D-ECD9-9A0896A0E5A9}"/>
              </a:ext>
            </a:extLst>
          </p:cNvPr>
          <p:cNvSpPr txBox="1"/>
          <p:nvPr/>
        </p:nvSpPr>
        <p:spPr>
          <a:xfrm>
            <a:off x="147804" y="6436016"/>
            <a:ext cx="19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Data Challenge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8B599-4066-A62A-877E-F2BBB9C509A3}"/>
              </a:ext>
            </a:extLst>
          </p:cNvPr>
          <p:cNvSpPr txBox="1"/>
          <p:nvPr/>
        </p:nvSpPr>
        <p:spPr>
          <a:xfrm>
            <a:off x="10652891" y="6436016"/>
            <a:ext cx="1294353" cy="28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Lukas &amp; Lara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821FF-EAFE-04BA-E24B-EC4DF8E77842}"/>
              </a:ext>
            </a:extLst>
          </p:cNvPr>
          <p:cNvSpPr txBox="1"/>
          <p:nvPr/>
        </p:nvSpPr>
        <p:spPr>
          <a:xfrm>
            <a:off x="1196059" y="2433261"/>
            <a:ext cx="9799881" cy="102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boto Mono Medium" pitchFamily="49" charset="0"/>
                <a:ea typeface="Roboto Mono Medium" pitchFamily="49" charset="0"/>
              </a:rPr>
              <a:t>“The auxiliary task of predicting the world is used to better understand the world at an abstract level and thus to make better downstream predictions”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C6F7F5-C781-6058-083D-0E4627F3644E}"/>
              </a:ext>
            </a:extLst>
          </p:cNvPr>
          <p:cNvSpPr txBox="1"/>
          <p:nvPr/>
        </p:nvSpPr>
        <p:spPr>
          <a:xfrm>
            <a:off x="8495617" y="3568773"/>
            <a:ext cx="2361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- Kingma &amp; Welling 2019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DC2EC3-726E-3FD4-D5DD-C8034BB5EA63}"/>
              </a:ext>
            </a:extLst>
          </p:cNvPr>
          <p:cNvSpPr txBox="1"/>
          <p:nvPr/>
        </p:nvSpPr>
        <p:spPr>
          <a:xfrm>
            <a:off x="334617" y="278642"/>
            <a:ext cx="268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Roboto Mono Medium" pitchFamily="49" charset="0"/>
                <a:ea typeface="Roboto Mono Medium" pitchFamily="49" charset="0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35265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BAE2A-B69E-C4BE-9F48-67CBE69C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EEFCC7-D226-971B-351E-B30382774F01}"/>
              </a:ext>
            </a:extLst>
          </p:cNvPr>
          <p:cNvSpPr txBox="1"/>
          <p:nvPr/>
        </p:nvSpPr>
        <p:spPr>
          <a:xfrm>
            <a:off x="147804" y="6436016"/>
            <a:ext cx="19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Data Challenge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24E36-9885-4148-EBE5-89B7BF5BD65B}"/>
              </a:ext>
            </a:extLst>
          </p:cNvPr>
          <p:cNvSpPr txBox="1"/>
          <p:nvPr/>
        </p:nvSpPr>
        <p:spPr>
          <a:xfrm>
            <a:off x="10652891" y="6436016"/>
            <a:ext cx="1294353" cy="28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Lukas &amp; Lara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1D0BA0-E29B-EB40-2276-273A6DDC6313}"/>
              </a:ext>
            </a:extLst>
          </p:cNvPr>
          <p:cNvSpPr txBox="1"/>
          <p:nvPr/>
        </p:nvSpPr>
        <p:spPr>
          <a:xfrm>
            <a:off x="432580" y="1202892"/>
            <a:ext cx="115146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000" b="1" dirty="0">
                <a:latin typeface="Roboto Mono" pitchFamily="49" charset="0"/>
                <a:ea typeface="Roboto Mono" pitchFamily="49" charset="0"/>
              </a:rPr>
              <a:t>Historical collections often lack reliable labels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000" dirty="0">
                <a:latin typeface="Roboto Mono" pitchFamily="49" charset="0"/>
                <a:ea typeface="Roboto Mono" pitchFamily="49" charset="0"/>
              </a:rPr>
              <a:t>Many coins are unidentified or mislabeled; VAEs learn from raw images without requiring “correct” tags.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000" dirty="0">
              <a:latin typeface="Roboto Mono" pitchFamily="49" charset="0"/>
              <a:ea typeface="Roboto Mono" pitchFamily="49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b="1" dirty="0">
                <a:latin typeface="Roboto Mono" pitchFamily="49" charset="0"/>
                <a:ea typeface="Roboto Mono" pitchFamily="49" charset="0"/>
              </a:rPr>
              <a:t>Exploit the full dataset</a:t>
            </a:r>
            <a:r>
              <a:rPr lang="en-US" sz="2000" dirty="0">
                <a:latin typeface="Roboto Mono" pitchFamily="49" charset="0"/>
                <a:ea typeface="Roboto Mono" pitchFamily="49" charset="0"/>
              </a:rPr>
              <a:t> instead of discarding “uncertain” examples.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F797E-E9E2-6177-E23B-6C4213E39C16}"/>
              </a:ext>
            </a:extLst>
          </p:cNvPr>
          <p:cNvSpPr txBox="1"/>
          <p:nvPr/>
        </p:nvSpPr>
        <p:spPr>
          <a:xfrm>
            <a:off x="334617" y="278642"/>
            <a:ext cx="268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Roboto Mono Medium" pitchFamily="49" charset="0"/>
                <a:ea typeface="Roboto Mono Medium" pitchFamily="49" charset="0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84753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3456F5F-867F-38BF-272D-BA9145BE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0C8CF-16F4-1716-56D1-092519C7A1CA}"/>
              </a:ext>
            </a:extLst>
          </p:cNvPr>
          <p:cNvSpPr txBox="1"/>
          <p:nvPr/>
        </p:nvSpPr>
        <p:spPr>
          <a:xfrm>
            <a:off x="147804" y="6436016"/>
            <a:ext cx="19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Data Challenge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6DFF2-D17F-BD33-D6F6-CBE0E54D5C5F}"/>
              </a:ext>
            </a:extLst>
          </p:cNvPr>
          <p:cNvSpPr txBox="1"/>
          <p:nvPr/>
        </p:nvSpPr>
        <p:spPr>
          <a:xfrm>
            <a:off x="10652891" y="6436016"/>
            <a:ext cx="1294353" cy="28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Lukas &amp; Lara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6DF2C-5D96-AB38-519C-E9474623DDED}"/>
              </a:ext>
            </a:extLst>
          </p:cNvPr>
          <p:cNvSpPr txBox="1"/>
          <p:nvPr/>
        </p:nvSpPr>
        <p:spPr>
          <a:xfrm>
            <a:off x="432580" y="1291669"/>
            <a:ext cx="11514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Wingdings" pitchFamily="2" charset="2"/>
              <a:buChar char="§"/>
              <a:defRPr sz="2000" b="1">
                <a:latin typeface="Roboto Mono" pitchFamily="49" charset="0"/>
                <a:ea typeface="Roboto Mono" pitchFamily="49" charset="0"/>
              </a:defRPr>
            </a:lvl1pPr>
            <a:lvl2pPr marL="800100" lvl="1" indent="-342900">
              <a:buFont typeface="Wingdings" pitchFamily="2" charset="2"/>
              <a:buChar char="§"/>
              <a:defRPr sz="2000">
                <a:latin typeface="Roboto Mono" pitchFamily="49" charset="0"/>
                <a:ea typeface="Roboto Mono" pitchFamily="49" charset="0"/>
              </a:defRPr>
            </a:lvl2pPr>
          </a:lstStyle>
          <a:p>
            <a:r>
              <a:rPr lang="en-US" b="0" dirty="0"/>
              <a:t>Capture the </a:t>
            </a:r>
            <a:r>
              <a:rPr lang="en-US" dirty="0"/>
              <a:t>manifold of coin styles </a:t>
            </a:r>
            <a:r>
              <a:rPr lang="en-US" b="0" dirty="0"/>
              <a:t>in a low-dimensional embedding.</a:t>
            </a:r>
          </a:p>
          <a:p>
            <a:endParaRPr lang="en-US" b="0" dirty="0"/>
          </a:p>
          <a:p>
            <a:r>
              <a:rPr lang="en-US" b="0" dirty="0"/>
              <a:t>Model inherent </a:t>
            </a:r>
            <a:r>
              <a:rPr lang="en-US" dirty="0"/>
              <a:t>image noise </a:t>
            </a:r>
            <a:r>
              <a:rPr lang="en-US" b="0" dirty="0"/>
              <a:t>(lighting, occlusion, wear) via the VAE’s </a:t>
            </a:r>
            <a:r>
              <a:rPr lang="en-US" dirty="0"/>
              <a:t>probabilistic decoder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b="0" dirty="0"/>
              <a:t>Generate denoised reconstructions to normalize dataset quality.</a:t>
            </a:r>
          </a:p>
          <a:p>
            <a:endParaRPr lang="en-US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9F2C2-E896-48C3-3460-4A2802E7EAF0}"/>
              </a:ext>
            </a:extLst>
          </p:cNvPr>
          <p:cNvSpPr txBox="1"/>
          <p:nvPr/>
        </p:nvSpPr>
        <p:spPr>
          <a:xfrm>
            <a:off x="334617" y="278642"/>
            <a:ext cx="268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Roboto Mono Medium" pitchFamily="49" charset="0"/>
                <a:ea typeface="Roboto Mono Medium" pitchFamily="49" charset="0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78090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C256-BCD5-0374-9878-B64B6CC2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28833-82E8-2884-6AF2-5B09D2AD4E96}"/>
              </a:ext>
            </a:extLst>
          </p:cNvPr>
          <p:cNvSpPr txBox="1"/>
          <p:nvPr/>
        </p:nvSpPr>
        <p:spPr>
          <a:xfrm>
            <a:off x="147804" y="6436016"/>
            <a:ext cx="19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Data Challenge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DC20C2-6CA4-520C-3CCB-3222FD16FD68}"/>
              </a:ext>
            </a:extLst>
          </p:cNvPr>
          <p:cNvSpPr txBox="1"/>
          <p:nvPr/>
        </p:nvSpPr>
        <p:spPr>
          <a:xfrm>
            <a:off x="10652891" y="6436016"/>
            <a:ext cx="1294353" cy="28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Lukas &amp; Lara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73724-3F57-021F-558F-7E47716A144D}"/>
              </a:ext>
            </a:extLst>
          </p:cNvPr>
          <p:cNvSpPr txBox="1"/>
          <p:nvPr/>
        </p:nvSpPr>
        <p:spPr>
          <a:xfrm>
            <a:off x="432580" y="1291669"/>
            <a:ext cx="1151466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Wingdings" pitchFamily="2" charset="2"/>
              <a:buChar char="§"/>
              <a:defRPr sz="2000" b="1">
                <a:latin typeface="Roboto Mono" pitchFamily="49" charset="0"/>
                <a:ea typeface="Roboto Mono" pitchFamily="49" charset="0"/>
              </a:defRPr>
            </a:lvl1pPr>
            <a:lvl2pPr marL="800100" lvl="1" indent="-342900">
              <a:buFont typeface="Wingdings" pitchFamily="2" charset="2"/>
              <a:buChar char="§"/>
              <a:defRPr sz="2000">
                <a:latin typeface="Roboto Mono" pitchFamily="49" charset="0"/>
                <a:ea typeface="Roboto Mono" pitchFamily="49" charset="0"/>
              </a:defRPr>
            </a:lvl2pPr>
          </a:lstStyle>
          <a:p>
            <a:r>
              <a:rPr lang="en-US" dirty="0"/>
              <a:t>Interpolation</a:t>
            </a:r>
          </a:p>
          <a:p>
            <a:pPr lvl="1"/>
            <a:r>
              <a:rPr lang="en-US" b="0" dirty="0"/>
              <a:t>Enables </a:t>
            </a:r>
            <a:r>
              <a:rPr lang="en-US" dirty="0"/>
              <a:t>smooth interpolation </a:t>
            </a:r>
            <a:r>
              <a:rPr lang="en-US" b="0" dirty="0"/>
              <a:t>between coin types, revealing gradual stylistic changes over centuries.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Clustering &amp; Retrieval</a:t>
            </a:r>
            <a:endParaRPr lang="en-US" b="0" dirty="0"/>
          </a:p>
          <a:p>
            <a:pPr lvl="1"/>
            <a:r>
              <a:rPr lang="en-US" b="0" dirty="0"/>
              <a:t>Use latent codes to group visually similar coins, speeding up cataloging.</a:t>
            </a:r>
          </a:p>
          <a:p>
            <a:endParaRPr lang="en-US" dirty="0"/>
          </a:p>
          <a:p>
            <a:r>
              <a:rPr lang="en-US" dirty="0"/>
              <a:t>Pairwise Comparison</a:t>
            </a:r>
            <a:endParaRPr lang="en-US" b="0" dirty="0"/>
          </a:p>
          <a:p>
            <a:pPr lvl="1"/>
            <a:r>
              <a:rPr lang="en-US" b="0" dirty="0"/>
              <a:t>Measure distances in latent space to predict “same vs. different” pairings more robustly than pixel-level metrics.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DE1BE-3D25-10D7-F541-47F9701FA292}"/>
              </a:ext>
            </a:extLst>
          </p:cNvPr>
          <p:cNvSpPr txBox="1"/>
          <p:nvPr/>
        </p:nvSpPr>
        <p:spPr>
          <a:xfrm>
            <a:off x="334617" y="278642"/>
            <a:ext cx="4104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Roboto Mono Medium" pitchFamily="49" charset="0"/>
                <a:ea typeface="Roboto Mono Medium" pitchFamily="49" charset="0"/>
              </a:rPr>
              <a:t>Downstream Tasks</a:t>
            </a:r>
          </a:p>
        </p:txBody>
      </p:sp>
    </p:spTree>
    <p:extLst>
      <p:ext uri="{BB962C8B-B14F-4D97-AF65-F5344CB8AC3E}">
        <p14:creationId xmlns:p14="http://schemas.microsoft.com/office/powerpoint/2010/main" val="204694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9A811-A02A-5D48-A6A3-44794D6CC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C5555D-C34A-6DA2-ADA6-7F0E9464E53C}"/>
              </a:ext>
            </a:extLst>
          </p:cNvPr>
          <p:cNvSpPr txBox="1"/>
          <p:nvPr/>
        </p:nvSpPr>
        <p:spPr>
          <a:xfrm>
            <a:off x="147804" y="6436016"/>
            <a:ext cx="19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Data Challenge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0D3C5-999E-D856-DBCB-C29BE025E5DB}"/>
              </a:ext>
            </a:extLst>
          </p:cNvPr>
          <p:cNvSpPr txBox="1"/>
          <p:nvPr/>
        </p:nvSpPr>
        <p:spPr>
          <a:xfrm>
            <a:off x="10652891" y="6436016"/>
            <a:ext cx="1294353" cy="28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Lukas &amp; Lara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5DF5C-86AC-E180-F88B-08F9AB8FD307}"/>
              </a:ext>
            </a:extLst>
          </p:cNvPr>
          <p:cNvSpPr txBox="1"/>
          <p:nvPr/>
        </p:nvSpPr>
        <p:spPr>
          <a:xfrm>
            <a:off x="432580" y="1291669"/>
            <a:ext cx="115146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Wingdings" pitchFamily="2" charset="2"/>
              <a:buChar char="§"/>
              <a:defRPr sz="2000" b="1">
                <a:latin typeface="Roboto Mono" pitchFamily="49" charset="0"/>
                <a:ea typeface="Roboto Mono" pitchFamily="49" charset="0"/>
              </a:defRPr>
            </a:lvl1pPr>
            <a:lvl2pPr marL="800100" lvl="1" indent="-342900">
              <a:buFont typeface="Wingdings" pitchFamily="2" charset="2"/>
              <a:buChar char="§"/>
              <a:defRPr sz="2000">
                <a:latin typeface="Roboto Mono" pitchFamily="49" charset="0"/>
                <a:ea typeface="Roboto Mono" pitchFamily="49" charset="0"/>
              </a:defRPr>
            </a:lvl2pPr>
          </a:lstStyle>
          <a:p>
            <a:r>
              <a:rPr lang="en-US" dirty="0" err="1"/>
              <a:t>UNet</a:t>
            </a:r>
            <a:r>
              <a:rPr lang="en-US" dirty="0"/>
              <a:t>-Based Encoder/Decoder:</a:t>
            </a:r>
          </a:p>
          <a:p>
            <a:pPr lvl="1"/>
            <a:r>
              <a:rPr lang="en-US" b="0" dirty="0"/>
              <a:t>Encoder </a:t>
            </a:r>
            <a:r>
              <a:rPr lang="en-US" b="0" dirty="0" err="1"/>
              <a:t>downsamples</a:t>
            </a:r>
            <a:r>
              <a:rPr lang="en-US" b="0" dirty="0"/>
              <a:t> via stacked residual blocks, optional attention, and </a:t>
            </a:r>
            <a:r>
              <a:rPr lang="en-US" b="0" dirty="0" err="1"/>
              <a:t>strided</a:t>
            </a:r>
            <a:r>
              <a:rPr lang="en-US" b="0" dirty="0"/>
              <a:t> </a:t>
            </a:r>
            <a:r>
              <a:rPr lang="en-US" b="0" dirty="0" err="1"/>
              <a:t>convs</a:t>
            </a:r>
            <a:r>
              <a:rPr lang="en-US" b="0" dirty="0"/>
              <a:t> to capture multi-scale features.</a:t>
            </a:r>
          </a:p>
          <a:p>
            <a:pPr lvl="1"/>
            <a:endParaRPr lang="en-US" dirty="0"/>
          </a:p>
          <a:p>
            <a:pPr lvl="1"/>
            <a:r>
              <a:rPr lang="en-US" b="0" dirty="0"/>
              <a:t>Decoder mirrors this with transpose-conv </a:t>
            </a:r>
            <a:r>
              <a:rPr lang="en-US" b="0" dirty="0" err="1"/>
              <a:t>upsamples</a:t>
            </a:r>
            <a:r>
              <a:rPr lang="en-US" b="0" dirty="0"/>
              <a:t> and residual blocks for high-quality reconstructions.</a:t>
            </a:r>
          </a:p>
          <a:p>
            <a:pPr lvl="1"/>
            <a:endParaRPr lang="en-US" dirty="0"/>
          </a:p>
          <a:p>
            <a:r>
              <a:rPr lang="en-US" b="1" dirty="0"/>
              <a:t>VAE Loss Function (</a:t>
            </a:r>
            <a:r>
              <a:rPr lang="en-US" b="1" dirty="0" err="1"/>
              <a:t>vae_loss</a:t>
            </a:r>
            <a:r>
              <a:rPr lang="en-US" b="1" dirty="0"/>
              <a:t>):</a:t>
            </a:r>
          </a:p>
          <a:p>
            <a:pPr lvl="1"/>
            <a:r>
              <a:rPr lang="en-US" dirty="0"/>
              <a:t>Combines sum-reduction MSE reconstruction with KL divergence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F36D8-04DF-7F58-BBDA-D05B81D75849}"/>
              </a:ext>
            </a:extLst>
          </p:cNvPr>
          <p:cNvSpPr txBox="1"/>
          <p:nvPr/>
        </p:nvSpPr>
        <p:spPr>
          <a:xfrm>
            <a:off x="334616" y="278642"/>
            <a:ext cx="4441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Roboto Mono Medium" pitchFamily="49" charset="0"/>
                <a:ea typeface="Roboto Mono Medium" pitchFamily="49" charset="0"/>
              </a:rPr>
              <a:t>Architecture: VAE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12F64D-F4EE-7DD3-C614-60EB61419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185" y="4409645"/>
            <a:ext cx="8091629" cy="96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534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78E2-FC71-00A3-8F98-FBE0919E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87EFE-E87F-293A-2D1B-5885877F914C}"/>
              </a:ext>
            </a:extLst>
          </p:cNvPr>
          <p:cNvSpPr txBox="1"/>
          <p:nvPr/>
        </p:nvSpPr>
        <p:spPr>
          <a:xfrm>
            <a:off x="147804" y="6436016"/>
            <a:ext cx="19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Data Challenge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2477B-A99D-EF04-9599-9F7F8E68982E}"/>
              </a:ext>
            </a:extLst>
          </p:cNvPr>
          <p:cNvSpPr txBox="1"/>
          <p:nvPr/>
        </p:nvSpPr>
        <p:spPr>
          <a:xfrm>
            <a:off x="10652891" y="6436016"/>
            <a:ext cx="1294353" cy="28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Roboto Mono Medium" pitchFamily="49" charset="0"/>
                <a:ea typeface="Roboto Mono Medium" pitchFamily="49" charset="0"/>
              </a:rPr>
              <a:t>Lukas &amp; Lara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519E2-4D24-1F1E-157A-97FD9CD3990D}"/>
              </a:ext>
            </a:extLst>
          </p:cNvPr>
          <p:cNvSpPr txBox="1"/>
          <p:nvPr/>
        </p:nvSpPr>
        <p:spPr>
          <a:xfrm>
            <a:off x="334616" y="278642"/>
            <a:ext cx="4856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Roboto Mono Medium" pitchFamily="49" charset="0"/>
                <a:ea typeface="Roboto Mono Medium" pitchFamily="49" charset="0"/>
              </a:rPr>
              <a:t>Preliminary Results</a:t>
            </a:r>
          </a:p>
        </p:txBody>
      </p:sp>
      <p:pic>
        <p:nvPicPr>
          <p:cNvPr id="9" name="Picture 8" descr="A group of silver objects&#10;&#10;AI-generated content may be incorrect.">
            <a:extLst>
              <a:ext uri="{FF2B5EF4-FFF2-40B4-BE49-F238E27FC236}">
                <a16:creationId xmlns:a16="http://schemas.microsoft.com/office/drawing/2014/main" id="{1029D623-34CB-F6AA-7CEC-55AE6FF6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58" y="1629695"/>
            <a:ext cx="9291484" cy="232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52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269</Words>
  <Application>Microsoft Macintosh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Roboto Mono</vt:lpstr>
      <vt:lpstr>Roboto Mono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g4bj1ptd2s@goetheuniversitaet.onmicrosoft.com</dc:creator>
  <cp:lastModifiedBy>g4bj1ptd2s@goetheuniversitaet.onmicrosoft.com</cp:lastModifiedBy>
  <cp:revision>6</cp:revision>
  <dcterms:created xsi:type="dcterms:W3CDTF">2025-05-15T13:02:07Z</dcterms:created>
  <dcterms:modified xsi:type="dcterms:W3CDTF">2025-05-26T12:38:56Z</dcterms:modified>
</cp:coreProperties>
</file>